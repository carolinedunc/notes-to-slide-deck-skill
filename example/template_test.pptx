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5029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B3A5C"/>
                </a:solidFill>
              </a:rPr>
              <a:t>DUNCAN &amp; CO.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B3A5C"/>
                </a:solidFill>
              </a:rPr>
              <a:t>Q1'26 Report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7772400" cy="18288"/>
          </a:xfrm>
          <a:prstGeom prst="rect">
            <a:avLst/>
          </a:prstGeom>
          <a:solidFill>
            <a:srgbClr val="E87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4846320"/>
            <a:ext cx="7772400" cy="18288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663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08080"/>
                </a:solidFill>
              </a:rPr>
              <a:t>Duncan &amp; 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4663440"/>
            <a:ext cx="457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</a:rPr>
              <a:t>1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7160"/>
            <a:ext cx="68518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B3A5C"/>
                </a:solidFill>
              </a:rPr>
              <a:t>DUNCAN &amp; CO.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B3A5C"/>
                </a:solidFill>
              </a:rPr>
              <a:t>Key Themes &amp; Overall Takeaways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7772400" cy="18288"/>
          </a:xfrm>
          <a:prstGeom prst="rect">
            <a:avLst/>
          </a:prstGeom>
          <a:solidFill>
            <a:srgbClr val="E87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4846320"/>
            <a:ext cx="7772400" cy="18288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663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08080"/>
                </a:solidFill>
              </a:rPr>
              <a:t>Duncan &amp; 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4663440"/>
            <a:ext cx="457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</a:rPr>
              <a:t>2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7160"/>
            <a:ext cx="68518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B3A5C"/>
                </a:solidFill>
              </a:rPr>
              <a:t>DUNCAN &amp; CO.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B3A5C"/>
                </a:solidFill>
              </a:rPr>
              <a:t>Risk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7772400" cy="18288"/>
          </a:xfrm>
          <a:prstGeom prst="rect">
            <a:avLst/>
          </a:prstGeom>
          <a:solidFill>
            <a:srgbClr val="E87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4846320"/>
            <a:ext cx="7772400" cy="18288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663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08080"/>
                </a:solidFill>
              </a:rPr>
              <a:t>Duncan &amp; 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4663440"/>
            <a:ext cx="457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</a:rPr>
              <a:t>3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7160"/>
            <a:ext cx="68518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B3A5C"/>
                </a:solidFill>
              </a:rPr>
              <a:t>DUNCAN &amp; CO.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B3A5C"/>
                </a:solidFill>
              </a:rPr>
              <a:t>Customer Pipeline and Revenue Guidance for the Upcoming Fiscal Year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7772400" cy="18288"/>
          </a:xfrm>
          <a:prstGeom prst="rect">
            <a:avLst/>
          </a:prstGeom>
          <a:solidFill>
            <a:srgbClr val="E87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4846320"/>
            <a:ext cx="7772400" cy="18288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663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08080"/>
                </a:solidFill>
              </a:rPr>
              <a:t>Duncan &amp; 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4663440"/>
            <a:ext cx="457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</a:rPr>
              <a:t>4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7160"/>
            <a:ext cx="68518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B3A5C"/>
                </a:solidFill>
              </a:rPr>
              <a:t>DUNCAN &amp; CO.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B3A5C"/>
                </a:solidFill>
              </a:rPr>
              <a:t>Open Questions &amp; Follow-Ups from Site Visit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7772400" cy="18288"/>
          </a:xfrm>
          <a:prstGeom prst="rect">
            <a:avLst/>
          </a:prstGeom>
          <a:solidFill>
            <a:srgbClr val="E87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4846320"/>
            <a:ext cx="7772400" cy="18288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663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08080"/>
                </a:solidFill>
              </a:rPr>
              <a:t>Duncan &amp; 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4663440"/>
            <a:ext cx="457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08080"/>
                </a:solidFill>
              </a:rPr>
              <a:t>5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7160"/>
            <a:ext cx="685180" cy="6400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